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Poppins Black"/>
      <p:bold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Barlow"/>
      <p:regular r:id="rId44"/>
      <p:bold r:id="rId45"/>
      <p:italic r:id="rId46"/>
      <p:boldItalic r:id="rId47"/>
    </p:embeddedFont>
    <p:embeddedFont>
      <p:font typeface="Poppins ExtraBold"/>
      <p:bold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44" Type="http://schemas.openxmlformats.org/officeDocument/2006/relationships/font" Target="fonts/Barlow-regular.fntdata"/><Relationship Id="rId43" Type="http://schemas.openxmlformats.org/officeDocument/2006/relationships/font" Target="fonts/RobotoMono-boldItalic.fntdata"/><Relationship Id="rId46" Type="http://schemas.openxmlformats.org/officeDocument/2006/relationships/font" Target="fonts/Barlow-italic.fntdata"/><Relationship Id="rId45" Type="http://schemas.openxmlformats.org/officeDocument/2006/relationships/font" Target="fonts/Barl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ExtraBold-bold.fntdata"/><Relationship Id="rId47" Type="http://schemas.openxmlformats.org/officeDocument/2006/relationships/font" Target="fonts/Barlow-boldItalic.fntdata"/><Relationship Id="rId49" Type="http://schemas.openxmlformats.org/officeDocument/2006/relationships/font" Target="fonts/Poppi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33" Type="http://schemas.openxmlformats.org/officeDocument/2006/relationships/font" Target="fonts/Raleway-boldItalic.fntdata"/><Relationship Id="rId32" Type="http://schemas.openxmlformats.org/officeDocument/2006/relationships/font" Target="fonts/Raleway-italic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PoppinsBlack-boldItalic.fntdata"/><Relationship Id="rId38" Type="http://schemas.openxmlformats.org/officeDocument/2006/relationships/font" Target="fonts/PoppinsBlack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78adff4ff1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78adff4ff1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78adff4ff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78adff4ff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78adff4ff1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78adff4ff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7d3e03d31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7d3e03d31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7d3e03d31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7d3e03d31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7d3e03d31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7d3e03d31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78adff4ff1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78adff4ff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d3e03d31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d3e03d31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78adff4ff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78adff4ff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78adff4ff1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78adff4ff1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78adff4ff1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78adff4ff1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7a315bc37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7a315bc37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7a315bc37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7a315bc37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7a315bc37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7a315bc37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7a315bc37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7a315bc37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7a315bc37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7a315bc37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7a315bc37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7a315bc37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7a315bc37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7a315bc37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7a315bc37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7a315bc37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7a315bc37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7a315bc37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7a315bc37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7a315bc37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7a315bc37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7a315bc37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8291042" y="569492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2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flipH="1" rot="10800000">
              <a:off x="-522276" y="-13020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flipH="1" rot="10800000">
              <a:off x="-3" y="-1466368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378450" y="-807272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flipH="1" rot="10800000">
            <a:off x="-1358733" y="-903765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 flipH="1" rot="10800000">
            <a:off x="-1594613" y="-603810"/>
            <a:ext cx="3247250" cy="169871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rect b="b" l="l" r="r" t="t"/>
                <a:pathLst>
                  <a:path extrusionOk="0" h="4203" w="22325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flipH="1" rot="10800000">
              <a:off x="-1320285" y="-22921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8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rect b="b" l="l" r="r" t="t"/>
                    <a:pathLst>
                      <a:path extrusionOk="0" h="5994" w="7755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 rot="10800000">
              <a:off x="-427494" y="8097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flipH="1" rot="10800000">
              <a:off x="7861425" y="-9594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 rot="10800000">
              <a:off x="-591414" y="-217566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flipH="1" rot="10800000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flipH="1" rot="10800000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3"/>
          <p:cNvSpPr txBox="1"/>
          <p:nvPr>
            <p:ph idx="1" type="subTitle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7" name="Google Shape;237;p13"/>
          <p:cNvSpPr txBox="1"/>
          <p:nvPr>
            <p:ph idx="2" type="subTitle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idx="3" type="subTitle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9" name="Google Shape;239;p13"/>
          <p:cNvSpPr txBox="1"/>
          <p:nvPr>
            <p:ph idx="4" type="subTitle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5" type="subTitle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idx="6" type="subTitle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" name="Google Shape;2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8" type="title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hasCustomPrompt="1" idx="15" type="title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4"/>
          <p:cNvSpPr txBox="1"/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4"/>
          <p:cNvSpPr txBox="1"/>
          <p:nvPr>
            <p:ph idx="1" type="subTitle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flipH="1" rot="10800000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flipH="1" rot="10800000">
              <a:off x="-79353" y="-11944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flipH="1" rot="10800000">
            <a:off x="6778074" y="487648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1" type="subTitle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flipH="1" rot="10800000">
              <a:off x="7412165" y="-4359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flipH="1" rot="10800000">
              <a:off x="-694176" y="-92023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7"/>
          <p:cNvSpPr txBox="1"/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idx="1" type="subTitle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flipH="1" rot="10800000">
              <a:off x="-305811" y="-464980"/>
              <a:ext cx="1920158" cy="1004478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8"/>
          <p:cNvSpPr txBox="1"/>
          <p:nvPr>
            <p:ph idx="1" type="subTitle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 flipH="1" rot="10800000">
            <a:off x="-2006799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flipH="1" rot="10800000">
              <a:off x="7028137" y="-635197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 rot="10800000">
              <a:off x="-201825" y="-1528931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flipH="1" rot="10800000">
            <a:off x="5675306" y="4959976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flipH="1" rot="10800000">
              <a:off x="-2306160" y="-314058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flipH="1" rot="10800000">
              <a:off x="7082099" y="48764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 rot="10800000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flipH="1" rot="10800000">
              <a:off x="-1123779" y="-1437185"/>
              <a:ext cx="3115510" cy="1837815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2" type="subTitle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71" name="Google Shape;471;p22"/>
          <p:cNvGrpSpPr/>
          <p:nvPr/>
        </p:nvGrpSpPr>
        <p:grpSpPr>
          <a:xfrm flipH="1" rot="10800000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flipH="1" rot="10800000">
              <a:off x="-592558" y="-10342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flipH="1" rot="10800000">
              <a:off x="5882231" y="4965151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1" type="subTitle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2" type="subTitle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4" type="subTitle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5" name="Google Shape;495;p23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6" name="Google Shape;496;p23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7" name="Google Shape;497;p23"/>
          <p:cNvSpPr txBox="1"/>
          <p:nvPr>
            <p:ph idx="8" type="subTitle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flipH="1" rot="10800000">
            <a:off x="7721650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flipH="1" rot="10800000">
              <a:off x="-268961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1" type="subTitle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4"/>
          <p:cNvSpPr txBox="1"/>
          <p:nvPr>
            <p:ph idx="2" type="subTitle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2" name="Google Shape;522;p24"/>
          <p:cNvSpPr txBox="1"/>
          <p:nvPr>
            <p:ph idx="3" type="subTitle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3" name="Google Shape;523;p24"/>
          <p:cNvSpPr txBox="1"/>
          <p:nvPr>
            <p:ph idx="4" type="subTitle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24"/>
          <p:cNvSpPr txBox="1"/>
          <p:nvPr>
            <p:ph idx="5" type="subTitle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24"/>
          <p:cNvSpPr txBox="1"/>
          <p:nvPr>
            <p:ph idx="6" type="subTitle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24"/>
          <p:cNvSpPr txBox="1"/>
          <p:nvPr>
            <p:ph idx="7" type="subTitle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7" name="Google Shape;527;p24"/>
          <p:cNvSpPr txBox="1"/>
          <p:nvPr>
            <p:ph idx="8" type="subTitle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8" name="Google Shape;528;p24"/>
          <p:cNvSpPr txBox="1"/>
          <p:nvPr>
            <p:ph idx="9" type="subTitle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9" name="Google Shape;529;p24"/>
          <p:cNvSpPr txBox="1"/>
          <p:nvPr>
            <p:ph idx="13" type="subTitle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0" name="Google Shape;530;p24"/>
          <p:cNvSpPr txBox="1"/>
          <p:nvPr>
            <p:ph idx="14" type="subTitle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1" name="Google Shape;531;p24"/>
          <p:cNvSpPr txBox="1"/>
          <p:nvPr>
            <p:ph idx="15" type="subTitle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flipH="1" rot="10800000">
              <a:off x="-176403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flipH="1" rot="10800000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>
            <p:ph hasCustomPrompt="1" type="title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/>
          <p:nvPr>
            <p:ph idx="1" type="subTitle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hasCustomPrompt="1" idx="2" type="title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/>
          <p:nvPr>
            <p:ph idx="3" type="subTitle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25"/>
          <p:cNvSpPr txBox="1"/>
          <p:nvPr>
            <p:ph hasCustomPrompt="1" idx="4" type="title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/>
          <p:nvPr>
            <p:ph idx="5" type="subTitle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flipH="1" rot="10800000">
              <a:off x="-955172" y="-1359417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flipH="1" rot="10800000">
              <a:off x="7251492" y="-83652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26"/>
          <p:cNvSpPr txBox="1"/>
          <p:nvPr>
            <p:ph idx="2" type="subTitle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4" name="Google Shape;624;p26"/>
          <p:cNvSpPr txBox="1"/>
          <p:nvPr>
            <p:ph hasCustomPrompt="1" idx="3" type="title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/>
          <p:nvPr>
            <p:ph idx="4" type="subTitle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7" name="Google Shape;627;p26"/>
          <p:cNvSpPr txBox="1"/>
          <p:nvPr>
            <p:ph hasCustomPrompt="1" idx="6" type="title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/>
          <p:nvPr>
            <p:ph idx="7" type="subTitle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26"/>
          <p:cNvSpPr txBox="1"/>
          <p:nvPr>
            <p:ph idx="8" type="subTitle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3" name="Google Shape;633;p27"/>
          <p:cNvGrpSpPr/>
          <p:nvPr/>
        </p:nvGrpSpPr>
        <p:grpSpPr>
          <a:xfrm flipH="1" rot="10800000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flipH="1" rot="10800000">
              <a:off x="-163643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flipH="1" rot="10800000">
            <a:off x="8818850" y="4058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rect b="b" l="l" r="r" t="t"/>
                <a:pathLst>
                  <a:path extrusionOk="0" h="33981" w="64958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flipH="1" rot="10800000">
                <a:off x="-955172" y="-1359417"/>
                <a:ext cx="2979895" cy="1757817"/>
              </a:xfrm>
              <a:custGeom>
                <a:rect b="b" l="l" r="r" t="t"/>
                <a:pathLst>
                  <a:path extrusionOk="0" h="65842" w="111617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flipH="1" rot="10800000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flipH="1" rot="10800000">
              <a:off x="-2028096" y="-66522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flipH="1" rot="10800000">
              <a:off x="-1206796" y="-72844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flipH="1" rot="10800000">
              <a:off x="-563672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flipH="1" rot="10800000">
              <a:off x="6338717" y="-9979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8" name="Google Shape;708;p30"/>
          <p:cNvSpPr txBox="1"/>
          <p:nvPr>
            <p:ph idx="1" type="subTitle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0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flipH="1" rot="10800000">
              <a:off x="1175807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flipH="1" rot="10800000">
              <a:off x="-881984" y="-739244"/>
              <a:ext cx="1959133" cy="1024867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 flipH="1" rot="10800000">
            <a:off x="-621671" y="-1770656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 txBox="1"/>
          <p:nvPr>
            <p:ph type="ctrTitle"/>
          </p:nvPr>
        </p:nvSpPr>
        <p:spPr>
          <a:xfrm>
            <a:off x="1136325" y="1965675"/>
            <a:ext cx="7353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Estruturas de Repetição: </a:t>
            </a:r>
            <a:r>
              <a:rPr lang="en">
                <a:solidFill>
                  <a:srgbClr val="106040"/>
                </a:solidFill>
              </a:rPr>
              <a:t>for</a:t>
            </a:r>
            <a:r>
              <a:rPr lang="en"/>
              <a:t> </a:t>
            </a:r>
            <a:endParaRPr/>
          </a:p>
        </p:txBody>
      </p:sp>
      <p:grpSp>
        <p:nvGrpSpPr>
          <p:cNvPr id="753" name="Google Shape;753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54" name="Google Shape;754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55" name="Google Shape;755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6" name="Google Shape;756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58" name="Google Shape;758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59" name="Google Shape;759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0" name="Google Shape;760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1" name="Google Shape;761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2" name="Google Shape;762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64" name="Google Shape;764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5" name="Google Shape;765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6" name="Google Shape;766;p33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67" name="Google Shape;767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68" name="Google Shape;768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9" name="Google Shape;769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0" name="Google Shape;770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1" name="Google Shape;771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2" name="Google Shape;772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3" name="Google Shape;773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74" name="Google Shape;774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5" name="Google Shape;775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6" name="Google Shape;776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77" name="Google Shape;777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8" name="Google Shape;778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9" name="Google Shape;779;p33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0" name="Google Shape;780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1" name="Google Shape;781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83" name="Google Shape;783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4" name="Google Shape;784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4"/>
          <p:cNvSpPr txBox="1"/>
          <p:nvPr/>
        </p:nvSpPr>
        <p:spPr>
          <a:xfrm>
            <a:off x="180475" y="176825"/>
            <a:ext cx="896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Estruturas de Repetição</a:t>
            </a:r>
            <a:endParaRPr/>
          </a:p>
        </p:txBody>
      </p:sp>
      <p:sp>
        <p:nvSpPr>
          <p:cNvPr id="790" name="Google Shape;790;p34"/>
          <p:cNvSpPr txBox="1"/>
          <p:nvPr>
            <p:ph idx="2" type="subTitle"/>
          </p:nvPr>
        </p:nvSpPr>
        <p:spPr>
          <a:xfrm>
            <a:off x="767550" y="1399253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de Repetição </a:t>
            </a:r>
            <a:r>
              <a:rPr b="1"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Python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o </a:t>
            </a:r>
            <a:r>
              <a:rPr b="1"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funciona no Python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práticos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Exercícios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1" name="Google Shape;791;p34"/>
          <p:cNvPicPr preferRelativeResize="0"/>
          <p:nvPr/>
        </p:nvPicPr>
        <p:blipFill rotWithShape="1">
          <a:blip r:embed="rId3">
            <a:alphaModFix/>
          </a:blip>
          <a:srcRect b="21745" l="22947" r="23846" t="17189"/>
          <a:stretch/>
        </p:blipFill>
        <p:spPr>
          <a:xfrm>
            <a:off x="5412975" y="1399250"/>
            <a:ext cx="2169201" cy="2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5"/>
          <p:cNvSpPr txBox="1"/>
          <p:nvPr>
            <p:ph idx="2" type="subTitle"/>
          </p:nvPr>
        </p:nvSpPr>
        <p:spPr>
          <a:xfrm>
            <a:off x="80100" y="1445975"/>
            <a:ext cx="4378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repetição permitem executar um bloco de código várias vezes.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usado quando sabemos ou temos controle sobre o número de repetições.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Muito útil para percorrer listas, strings, intervalos numéricos, etc.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5"/>
          <p:cNvSpPr txBox="1"/>
          <p:nvPr/>
        </p:nvSpPr>
        <p:spPr>
          <a:xfrm>
            <a:off x="2379575" y="176825"/>
            <a:ext cx="434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Introdução</a:t>
            </a:r>
            <a:endParaRPr/>
          </a:p>
        </p:txBody>
      </p:sp>
      <p:pic>
        <p:nvPicPr>
          <p:cNvPr id="798" name="Google Shape;798;p35" title="preco-da-esteira-transportador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72325"/>
            <a:ext cx="4082299" cy="27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6"/>
          <p:cNvSpPr txBox="1"/>
          <p:nvPr>
            <p:ph idx="2" type="subTitle"/>
          </p:nvPr>
        </p:nvSpPr>
        <p:spPr>
          <a:xfrm>
            <a:off x="80100" y="1445978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variavel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recebe cada valor da sequência a cada iteração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sequencia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pode ser lista, string, range, etc.</a:t>
            </a:r>
            <a:endParaRPr b="1" sz="2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6"/>
          <p:cNvSpPr txBox="1"/>
          <p:nvPr/>
        </p:nvSpPr>
        <p:spPr>
          <a:xfrm>
            <a:off x="2109125" y="176825"/>
            <a:ext cx="4612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Sintaxe do </a:t>
            </a:r>
            <a:r>
              <a:rPr lang="en" sz="2600">
                <a:solidFill>
                  <a:srgbClr val="106040"/>
                </a:solidFill>
                <a:latin typeface="Poppins Black"/>
                <a:ea typeface="Poppins Black"/>
                <a:cs typeface="Poppins Black"/>
                <a:sym typeface="Poppins Black"/>
              </a:rPr>
              <a:t>for</a:t>
            </a:r>
            <a:endParaRPr>
              <a:solidFill>
                <a:srgbClr val="106040"/>
              </a:solidFill>
            </a:endParaRPr>
          </a:p>
        </p:txBody>
      </p:sp>
      <p:sp>
        <p:nvSpPr>
          <p:cNvPr id="805" name="Google Shape;805;p36"/>
          <p:cNvSpPr txBox="1"/>
          <p:nvPr/>
        </p:nvSpPr>
        <p:spPr>
          <a:xfrm>
            <a:off x="1154700" y="3837800"/>
            <a:ext cx="3564300" cy="615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variavel</a:t>
            </a: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sequencia</a:t>
            </a: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" sz="17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bloco de código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06" name="Google Shape;806;p36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750" y="1027700"/>
            <a:ext cx="4092500" cy="27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7"/>
          <p:cNvSpPr txBox="1"/>
          <p:nvPr>
            <p:ph idx="2" type="subTitle"/>
          </p:nvPr>
        </p:nvSpPr>
        <p:spPr>
          <a:xfrm>
            <a:off x="240300" y="858628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Saída: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7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Exemplo com lista</a:t>
            </a:r>
            <a:endParaRPr/>
          </a:p>
        </p:txBody>
      </p:sp>
      <p:sp>
        <p:nvSpPr>
          <p:cNvPr id="813" name="Google Shape;813;p37"/>
          <p:cNvSpPr txBox="1"/>
          <p:nvPr/>
        </p:nvSpPr>
        <p:spPr>
          <a:xfrm>
            <a:off x="674125" y="1361600"/>
            <a:ext cx="4271700" cy="1114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frutas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"maçã"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"banana"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"laranja"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fruta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frutas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fruta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4" name="Google Shape;814;p37"/>
          <p:cNvSpPr txBox="1"/>
          <p:nvPr/>
        </p:nvSpPr>
        <p:spPr>
          <a:xfrm>
            <a:off x="722550" y="3257125"/>
            <a:ext cx="952800" cy="941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maçã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banana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laranja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15" name="Google Shape;815;p37" title="baixa-254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875" y="1114475"/>
            <a:ext cx="3893376" cy="31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8"/>
          <p:cNvSpPr txBox="1"/>
          <p:nvPr>
            <p:ph idx="2" type="subTitle"/>
          </p:nvPr>
        </p:nvSpPr>
        <p:spPr>
          <a:xfrm>
            <a:off x="240300" y="858628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Saída: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8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Exemplo com </a:t>
            </a:r>
            <a:r>
              <a:rPr lang="en" sz="2600">
                <a:solidFill>
                  <a:srgbClr val="178038"/>
                </a:solidFill>
                <a:latin typeface="Poppins Black"/>
                <a:ea typeface="Poppins Black"/>
                <a:cs typeface="Poppins Black"/>
                <a:sym typeface="Poppins Black"/>
              </a:rPr>
              <a:t>range()</a:t>
            </a:r>
            <a:endParaRPr sz="26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22" name="Google Shape;822;p38"/>
          <p:cNvSpPr txBox="1"/>
          <p:nvPr/>
        </p:nvSpPr>
        <p:spPr>
          <a:xfrm>
            <a:off x="1176425" y="3177050"/>
            <a:ext cx="492300" cy="1241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23" name="Google Shape;823;p38"/>
          <p:cNvSpPr txBox="1"/>
          <p:nvPr/>
        </p:nvSpPr>
        <p:spPr>
          <a:xfrm>
            <a:off x="1204800" y="1441700"/>
            <a:ext cx="2265900" cy="83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24" name="Google Shape;824;p38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0950" y="1365500"/>
            <a:ext cx="3692175" cy="27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9"/>
          <p:cNvSpPr txBox="1"/>
          <p:nvPr>
            <p:ph idx="2" type="subTitle"/>
          </p:nvPr>
        </p:nvSpPr>
        <p:spPr>
          <a:xfrm>
            <a:off x="240300" y="858628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Saída: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9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Exemplo com </a:t>
            </a:r>
            <a:r>
              <a:rPr lang="en" sz="2600">
                <a:solidFill>
                  <a:srgbClr val="178038"/>
                </a:solidFill>
                <a:latin typeface="Poppins Black"/>
                <a:ea typeface="Poppins Black"/>
                <a:cs typeface="Poppins Black"/>
                <a:sym typeface="Poppins Black"/>
              </a:rPr>
              <a:t>range()</a:t>
            </a:r>
            <a:endParaRPr sz="26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31" name="Google Shape;831;p39"/>
          <p:cNvSpPr txBox="1"/>
          <p:nvPr/>
        </p:nvSpPr>
        <p:spPr>
          <a:xfrm>
            <a:off x="1176425" y="3177050"/>
            <a:ext cx="492300" cy="1241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32" name="Google Shape;832;p39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0950" y="1365500"/>
            <a:ext cx="3692175" cy="27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/>
          <p:cNvSpPr txBox="1"/>
          <p:nvPr/>
        </p:nvSpPr>
        <p:spPr>
          <a:xfrm>
            <a:off x="1176425" y="1494775"/>
            <a:ext cx="3000000" cy="83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0"/>
          <p:cNvSpPr txBox="1"/>
          <p:nvPr>
            <p:ph idx="2" type="subTitle"/>
          </p:nvPr>
        </p:nvSpPr>
        <p:spPr>
          <a:xfrm>
            <a:off x="240300" y="858628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Saída: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0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78038"/>
                </a:solidFill>
                <a:latin typeface="Poppins Black"/>
                <a:ea typeface="Poppins Black"/>
                <a:cs typeface="Poppins Black"/>
                <a:sym typeface="Poppins Black"/>
              </a:rPr>
              <a:t>for</a:t>
            </a: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 com strings</a:t>
            </a:r>
            <a:endParaRPr sz="26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40" name="Google Shape;840;p40"/>
          <p:cNvSpPr txBox="1"/>
          <p:nvPr/>
        </p:nvSpPr>
        <p:spPr>
          <a:xfrm>
            <a:off x="1176425" y="3177050"/>
            <a:ext cx="492300" cy="1481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1" name="Google Shape;841;p40"/>
          <p:cNvSpPr txBox="1"/>
          <p:nvPr/>
        </p:nvSpPr>
        <p:spPr>
          <a:xfrm>
            <a:off x="1176425" y="1441675"/>
            <a:ext cx="2661300" cy="126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palavra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"Python"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letra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palavra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letra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42" name="Google Shape;842;p40" title="9878325-game-font-in-pixel-art-8-bit-style-letters-and-numbers-vector-alphabet-in-pixel-ve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275" y="1661750"/>
            <a:ext cx="4634400" cy="2153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1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78038"/>
                </a:solidFill>
                <a:latin typeface="Poppins Black"/>
                <a:ea typeface="Poppins Black"/>
                <a:cs typeface="Poppins Black"/>
                <a:sym typeface="Poppins Black"/>
              </a:rPr>
              <a:t>for </a:t>
            </a: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aninhado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8" name="Google Shape;848;p41"/>
          <p:cNvSpPr txBox="1"/>
          <p:nvPr/>
        </p:nvSpPr>
        <p:spPr>
          <a:xfrm>
            <a:off x="453850" y="1261450"/>
            <a:ext cx="2723100" cy="83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9" name="Google Shape;849;p41"/>
          <p:cNvSpPr txBox="1"/>
          <p:nvPr>
            <p:ph idx="2" type="subTitle"/>
          </p:nvPr>
        </p:nvSpPr>
        <p:spPr>
          <a:xfrm>
            <a:off x="213552" y="811907"/>
            <a:ext cx="2936700" cy="134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Saída: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1"/>
          <p:cNvSpPr txBox="1"/>
          <p:nvPr/>
        </p:nvSpPr>
        <p:spPr>
          <a:xfrm>
            <a:off x="1114625" y="3059025"/>
            <a:ext cx="573900" cy="147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51" name="Google Shape;8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475" y="1799850"/>
            <a:ext cx="5294550" cy="20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2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78038"/>
                </a:solidFill>
                <a:latin typeface="Poppins Black"/>
                <a:ea typeface="Poppins Black"/>
                <a:cs typeface="Poppins Black"/>
                <a:sym typeface="Poppins Black"/>
              </a:rPr>
              <a:t>for</a:t>
            </a: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 com </a:t>
            </a:r>
            <a:r>
              <a:rPr lang="en" sz="2600">
                <a:solidFill>
                  <a:srgbClr val="178038"/>
                </a:solidFill>
                <a:latin typeface="Poppins Black"/>
                <a:ea typeface="Poppins Black"/>
                <a:cs typeface="Poppins Black"/>
                <a:sym typeface="Poppins Black"/>
              </a:rPr>
              <a:t>enumerate()</a:t>
            </a:r>
            <a:endParaRPr>
              <a:solidFill>
                <a:srgbClr val="178038"/>
              </a:solidFill>
            </a:endParaRPr>
          </a:p>
        </p:txBody>
      </p:sp>
      <p:sp>
        <p:nvSpPr>
          <p:cNvPr id="857" name="Google Shape;857;p42"/>
          <p:cNvSpPr txBox="1"/>
          <p:nvPr/>
        </p:nvSpPr>
        <p:spPr>
          <a:xfrm>
            <a:off x="1121300" y="1234771"/>
            <a:ext cx="3000000" cy="1693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animais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"cachorro"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"gato"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"pássaro"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indice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enumerate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animais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indice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8" name="Google Shape;858;p42"/>
          <p:cNvSpPr txBox="1"/>
          <p:nvPr>
            <p:ph idx="2" type="subTitle"/>
          </p:nvPr>
        </p:nvSpPr>
        <p:spPr>
          <a:xfrm>
            <a:off x="213552" y="811907"/>
            <a:ext cx="2936700" cy="134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Saída: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2"/>
          <p:cNvSpPr txBox="1"/>
          <p:nvPr/>
        </p:nvSpPr>
        <p:spPr>
          <a:xfrm>
            <a:off x="1127972" y="3444000"/>
            <a:ext cx="1468500" cy="1046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cachorro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gato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passaro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60" name="Google Shape;860;p42" title="8259662-numerada-lista-flat-multicolor-icone-ve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700" y="962013"/>
            <a:ext cx="3219474" cy="321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3"/>
          <p:cNvSpPr txBox="1"/>
          <p:nvPr>
            <p:ph idx="2" type="subTitle"/>
          </p:nvPr>
        </p:nvSpPr>
        <p:spPr>
          <a:xfrm>
            <a:off x="120125" y="1450303"/>
            <a:ext cx="39645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Python usa indentação (espaços) para organizar blocos de código.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Normalmente, usa-se 4 espaços.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3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Indentação</a:t>
            </a:r>
            <a:endParaRPr/>
          </a:p>
        </p:txBody>
      </p:sp>
      <p:pic>
        <p:nvPicPr>
          <p:cNvPr id="867" name="Google Shape;867;p43" title="360_F_1543211106_Gxw8LEx0wQxzmrLIETXpavfGwkQbC6yS.jpg"/>
          <p:cNvPicPr preferRelativeResize="0"/>
          <p:nvPr/>
        </p:nvPicPr>
        <p:blipFill rotWithShape="1">
          <a:blip r:embed="rId3">
            <a:alphaModFix/>
          </a:blip>
          <a:srcRect b="16209" l="7289" r="49503" t="18031"/>
          <a:stretch/>
        </p:blipFill>
        <p:spPr>
          <a:xfrm>
            <a:off x="3512595" y="3014609"/>
            <a:ext cx="1985200" cy="151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43" title="360_F_1543211106_Gxw8LEx0wQxzmrLIETXpavfGwkQbC6yS.jpg"/>
          <p:cNvPicPr preferRelativeResize="0"/>
          <p:nvPr/>
        </p:nvPicPr>
        <p:blipFill rotWithShape="1">
          <a:blip r:embed="rId3">
            <a:alphaModFix/>
          </a:blip>
          <a:srcRect b="16781" l="54657" r="2134" t="17459"/>
          <a:stretch/>
        </p:blipFill>
        <p:spPr>
          <a:xfrm>
            <a:off x="3512595" y="1343709"/>
            <a:ext cx="1985200" cy="151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3"/>
          <p:cNvSpPr txBox="1"/>
          <p:nvPr/>
        </p:nvSpPr>
        <p:spPr>
          <a:xfrm>
            <a:off x="5626374" y="1683373"/>
            <a:ext cx="3408900" cy="58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or i in range(5)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"Erro de indentação"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0" name="Google Shape;870;p43"/>
          <p:cNvSpPr txBox="1"/>
          <p:nvPr/>
        </p:nvSpPr>
        <p:spPr>
          <a:xfrm>
            <a:off x="5571325" y="3354275"/>
            <a:ext cx="3519000" cy="58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 i in range(5)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"Indentação correta"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4"/>
          <p:cNvSpPr txBox="1"/>
          <p:nvPr>
            <p:ph idx="2" type="subTitle"/>
          </p:nvPr>
        </p:nvSpPr>
        <p:spPr>
          <a:xfrm>
            <a:off x="160175" y="1712850"/>
            <a:ext cx="5112300" cy="23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é sua vez de praticar!</a:t>
            </a:r>
            <a:endParaRPr b="1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Resolva os exercícios da lista a seguir.</a:t>
            </a:r>
            <a:endParaRPr b="1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44"/>
          <p:cNvSpPr txBox="1"/>
          <p:nvPr/>
        </p:nvSpPr>
        <p:spPr>
          <a:xfrm>
            <a:off x="2756700" y="176825"/>
            <a:ext cx="396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Entrada de Dados</a:t>
            </a:r>
            <a:endParaRPr/>
          </a:p>
        </p:txBody>
      </p:sp>
      <p:pic>
        <p:nvPicPr>
          <p:cNvPr id="877" name="Google Shape;87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900" y="1185825"/>
            <a:ext cx="3090800" cy="299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/>
          <p:cNvSpPr txBox="1"/>
          <p:nvPr>
            <p:ph idx="2" type="subTitle"/>
          </p:nvPr>
        </p:nvSpPr>
        <p:spPr>
          <a:xfrm>
            <a:off x="413849" y="99542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os números de 1 a 10.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os números pares de 0 a 20.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os números ímpares de 1 a 19.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5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884" name="Google Shape;8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6"/>
          <p:cNvSpPr txBox="1"/>
          <p:nvPr>
            <p:ph idx="2" type="subTitle"/>
          </p:nvPr>
        </p:nvSpPr>
        <p:spPr>
          <a:xfrm>
            <a:off x="413849" y="99542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a tabuada do 5.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Somar todos os números de 1 a 100.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Calcular o fatorial de um número (ex: 5!).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6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891" name="Google Shape;8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7"/>
          <p:cNvSpPr txBox="1"/>
          <p:nvPr>
            <p:ph idx="2" type="subTitle"/>
          </p:nvPr>
        </p:nvSpPr>
        <p:spPr>
          <a:xfrm>
            <a:off x="413849" y="99542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Contar quantas vogais há em uma palavra.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cada letra de uma palavra separadamente.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todos os elementos de uma lista de frutas.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7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898" name="Google Shape;8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8"/>
          <p:cNvSpPr txBox="1"/>
          <p:nvPr>
            <p:ph idx="2" type="subTitle"/>
          </p:nvPr>
        </p:nvSpPr>
        <p:spPr>
          <a:xfrm>
            <a:off x="547533" y="99542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uma lista de quadrados dos números de 1 a 10.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apenas os elementos pares de uma lista de números.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Contar quantos números pares existem de 1 a 50.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8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05" name="Google Shape;9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9"/>
          <p:cNvSpPr txBox="1"/>
          <p:nvPr>
            <p:ph idx="2" type="subTitle"/>
          </p:nvPr>
        </p:nvSpPr>
        <p:spPr>
          <a:xfrm>
            <a:off x="413849" y="99542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Somar todos os números ímpares de 1 a 100.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uma contagem regressiva de 10 a 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a tabuada de um número informado pelo usuário.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9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12" name="Google Shape;91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0"/>
          <p:cNvSpPr txBox="1"/>
          <p:nvPr>
            <p:ph idx="2" type="subTitle"/>
          </p:nvPr>
        </p:nvSpPr>
        <p:spPr>
          <a:xfrm>
            <a:off x="413849" y="748473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todos os múltiplos de 3 entre 1 e 50.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todos os divisores de um número informado.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uma lista com os 10 primeiros números da sequência de Fibonacci.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0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19" name="Google Shape;9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1"/>
          <p:cNvSpPr txBox="1"/>
          <p:nvPr>
            <p:ph idx="2" type="subTitle"/>
          </p:nvPr>
        </p:nvSpPr>
        <p:spPr>
          <a:xfrm>
            <a:off x="525924" y="801603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uma palavra ao contrário usando </a:t>
            </a: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números de 1 a 100 substituindo múltiplos de 3 por “Fizz” e múltiplos de 5 por “Buzz”.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os 20 primeiros números primos.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1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26" name="Google Shape;92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2"/>
          <p:cNvSpPr txBox="1"/>
          <p:nvPr>
            <p:ph idx="2" type="subTitle"/>
          </p:nvPr>
        </p:nvSpPr>
        <p:spPr>
          <a:xfrm>
            <a:off x="433899" y="74847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Contar quantas letras maiúsculas há em uma frase.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Percorrer uma lista de nomes e imprimir apenas os que começam com "A".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Somar todos os elementos de uma lista de números.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2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33" name="Google Shape;9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3"/>
          <p:cNvSpPr txBox="1"/>
          <p:nvPr>
            <p:ph idx="2" type="subTitle"/>
          </p:nvPr>
        </p:nvSpPr>
        <p:spPr>
          <a:xfrm>
            <a:off x="393799" y="855078"/>
            <a:ext cx="44853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Multiplicar todos os elementos de uma lista de números.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 a sequência de números de 2 em 2 até 50.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 triângulo de asteriscos usando </a:t>
            </a:r>
            <a:r>
              <a:rPr b="1"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3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40" name="Google Shape;94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4"/>
          <p:cNvSpPr txBox="1"/>
          <p:nvPr>
            <p:ph idx="2" type="subTitle"/>
          </p:nvPr>
        </p:nvSpPr>
        <p:spPr>
          <a:xfrm>
            <a:off x="580950" y="467244"/>
            <a:ext cx="40377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Colocando em prática</a:t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 programa que percorra uma frase e conte quantos espaços em branco ela possui.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 programa que peça 5 números e mostre o maior.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 programa que peça 10 números e mostre a média.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4"/>
          <p:cNvSpPr txBox="1"/>
          <p:nvPr/>
        </p:nvSpPr>
        <p:spPr>
          <a:xfrm>
            <a:off x="2502925" y="163476"/>
            <a:ext cx="44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Exercícios</a:t>
            </a:r>
            <a:endParaRPr/>
          </a:p>
        </p:txBody>
      </p:sp>
      <p:pic>
        <p:nvPicPr>
          <p:cNvPr id="947" name="Google Shape;94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5"/>
          <p:cNvSpPr txBox="1"/>
          <p:nvPr>
            <p:ph idx="2" type="subTitle"/>
          </p:nvPr>
        </p:nvSpPr>
        <p:spPr>
          <a:xfrm>
            <a:off x="534300" y="1113800"/>
            <a:ext cx="40377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Peça ao usuário um número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Usando apenas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crie uma pirâmide numérica até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com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= 5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5"/>
          <p:cNvSpPr txBox="1"/>
          <p:nvPr/>
        </p:nvSpPr>
        <p:spPr>
          <a:xfrm>
            <a:off x="2502925" y="163476"/>
            <a:ext cx="4485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Desafio – Pirâmide de Números</a:t>
            </a:r>
            <a:endParaRPr/>
          </a:p>
        </p:txBody>
      </p:sp>
      <p:pic>
        <p:nvPicPr>
          <p:cNvPr id="954" name="Google Shape;95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55"/>
          <p:cNvSpPr txBox="1"/>
          <p:nvPr/>
        </p:nvSpPr>
        <p:spPr>
          <a:xfrm>
            <a:off x="1822100" y="3217400"/>
            <a:ext cx="1008000" cy="147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1 2 3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1 2 3 4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1 2 3 4 5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6"/>
          <p:cNvSpPr txBox="1"/>
          <p:nvPr>
            <p:ph idx="2" type="subTitle"/>
          </p:nvPr>
        </p:nvSpPr>
        <p:spPr>
          <a:xfrm>
            <a:off x="761231" y="1113800"/>
            <a:ext cx="40377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Peça ao usuário uma palavra secreta.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Depois, percorra a palavra com um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exiba os caracteres escondidos com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Permita que o jogador chute letras e, se acertar, revele a posição correta.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 até o jogador acertar toda a palavra ou acabar as tentativas.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Dica: usar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verificar se a letra escolhida está na palavra secreta.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56"/>
          <p:cNvSpPr txBox="1"/>
          <p:nvPr/>
        </p:nvSpPr>
        <p:spPr>
          <a:xfrm>
            <a:off x="2502925" y="163476"/>
            <a:ext cx="4485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 Desafio 1 – Jogo da Forca (versão simplificada)</a:t>
            </a:r>
            <a:endParaRPr/>
          </a:p>
        </p:txBody>
      </p:sp>
      <p:pic>
        <p:nvPicPr>
          <p:cNvPr id="962" name="Google Shape;96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33" y="1513550"/>
            <a:ext cx="3738905" cy="24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